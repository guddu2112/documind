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DocuMind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00B294"/>
                </a:solidFill>
              </a:defRPr>
            </a:pPr>
            <a:r>
              <a:t>Intelligent Document 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Multi-Agent AI Accelerator for RFPs, Contracts &amp; Specifications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0352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Practice Accelerator Proposal  |  Azure AI Platform</a:t>
            </a:r>
          </a:p>
          <a:p>
            <a:pPr algn="ctr">
              <a:spcBef>
                <a:spcPts val="600"/>
              </a:spcBef>
              <a:defRPr sz="1200" b="0">
                <a:solidFill>
                  <a:srgbClr val="888888"/>
                </a:solidFill>
              </a:defRPr>
            </a:pPr>
            <a:r>
              <a:t>Confidential — For Internal Review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Problem: Manual Document Review is Broken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468880" cy="2743200"/>
          </a:xfrm>
          <a:prstGeom prst="roundRect">
            <a:avLst/>
          </a:prstGeom>
          <a:solidFill>
            <a:srgbClr val="2D2D4A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⏱️  Time Drain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20116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Teams spend 40-60% of engagement</a:t>
            </a:r>
            <a:br/>
            <a:r>
              <a:t>time on manual document review</a:t>
            </a:r>
            <a:br/>
            <a:r>
              <a:t>(RFPs, contracts, specs).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468880" cy="2743200"/>
          </a:xfrm>
          <a:prstGeom prst="roundRect">
            <a:avLst/>
          </a:prstGeom>
          <a:solidFill>
            <a:srgbClr val="2D2D4A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69164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🔍  Inconsistent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377440"/>
            <a:ext cx="20116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Key clauses, risks, and obligations</a:t>
            </a:r>
            <a:br/>
            <a:r>
              <a:t>are missed due to fatigue and</a:t>
            </a:r>
            <a:br/>
            <a:r>
              <a:t>volume. No standardized process.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468880" cy="2743200"/>
          </a:xfrm>
          <a:prstGeom prst="roundRect">
            <a:avLst/>
          </a:prstGeom>
          <a:solidFill>
            <a:srgbClr val="2D2D4A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9164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💰  Revenue Leakage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77440"/>
            <a:ext cx="20116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Slow turnaround loses deals.</a:t>
            </a:r>
            <a:br/>
            <a:r>
              <a:t>Missed contract risks lead to</a:t>
            </a:r>
            <a:br/>
            <a:r>
              <a:t>cost overruns and disputes.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463040"/>
            <a:ext cx="2468880" cy="2743200"/>
          </a:xfrm>
          <a:prstGeom prst="roundRect">
            <a:avLst/>
          </a:prstGeom>
          <a:solidFill>
            <a:srgbClr val="2D2D4A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69164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8C00"/>
                </a:solidFill>
              </a:defRPr>
            </a:pPr>
            <a:r>
              <a:t>📊  No Searchability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377440"/>
            <a:ext cx="20116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Reviewed documents sit in silos.</a:t>
            </a:r>
            <a:br/>
            <a:r>
              <a:t>No way to search across past</a:t>
            </a:r>
            <a:br/>
            <a:r>
              <a:t>engagements for precedents.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Industry data: Organizations spend an average of 8.5 hours per contract on manual review.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00B294"/>
                </a:solidFill>
              </a:defRPr>
            </a:pPr>
            <a:r>
              <a:t>This is a repeatable problem across every client engagement.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DocuMind: The Value Proposition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38912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0B294"/>
                </a:solidFill>
              </a:defRPr>
            </a:pPr>
            <a:r>
              <a:t>What DocuMind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75488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✅  Automated ingestion of PDFs, DOCX, scanned images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FFFFFF"/>
                </a:solidFill>
              </a:defRPr>
            </a:pPr>
            <a:r>
              <a:t>✅  AI-powered extraction of clauses, tables, key-value pairs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FFFFFF"/>
                </a:solidFill>
              </a:defRPr>
            </a:pPr>
            <a:r>
              <a:t>✅  Intelligent summarization &amp; risk identification (GPT-4o)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FFFFFF"/>
                </a:solidFill>
              </a:defRPr>
            </a:pPr>
            <a:r>
              <a:t>✅  Semantic search across all processed documents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FFFFFF"/>
                </a:solidFill>
              </a:defRPr>
            </a:pPr>
            <a:r>
              <a:t>✅  Pluggable into any client engagement — zero custom code</a:t>
            </a:r>
          </a:p>
          <a:p>
            <a:pPr algn="l">
              <a:spcBef>
                <a:spcPts val="1000"/>
              </a:spcBef>
              <a:defRPr sz="1500" b="0">
                <a:solidFill>
                  <a:srgbClr val="FFFFFF"/>
                </a:solidFill>
              </a:defRPr>
            </a:pPr>
            <a:r>
              <a:t>✅  Full audit trail and compliance-ready outputs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2560320" cy="1828800"/>
          </a:xfrm>
          <a:prstGeom prst="roundRect">
            <a:avLst/>
          </a:prstGeom>
          <a:solidFill>
            <a:srgbClr val="2D2D4A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0B294"/>
                </a:solidFill>
              </a:defRPr>
            </a:pPr>
            <a:r>
              <a:t>~60%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CCCCCC"/>
                </a:solidFill>
              </a:defRPr>
            </a:pPr>
            <a:r>
              <a:t>Reduction in</a:t>
            </a:r>
            <a:br/>
            <a:r>
              <a:t>Review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71600"/>
            <a:ext cx="2560320" cy="1828800"/>
          </a:xfrm>
          <a:prstGeom prst="roundRect">
            <a:avLst/>
          </a:prstGeom>
          <a:solidFill>
            <a:srgbClr val="2D2D4A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64592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0B294"/>
                </a:solidFill>
              </a:defRPr>
            </a:pPr>
            <a:r>
              <a:t>95%+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37744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CCCCCC"/>
                </a:solidFill>
              </a:defRPr>
            </a:pPr>
            <a:r>
              <a:t>Extraction</a:t>
            </a:r>
            <a:br/>
            <a:r>
              <a:t>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474720"/>
            <a:ext cx="2560320" cy="1828800"/>
          </a:xfrm>
          <a:prstGeom prst="roundRect">
            <a:avLst/>
          </a:prstGeom>
          <a:solidFill>
            <a:srgbClr val="2D2D4A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74904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0B294"/>
                </a:solidFill>
              </a:defRPr>
            </a:pPr>
            <a:r>
              <a:t>2 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8056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CCCCCC"/>
                </a:solidFill>
              </a:defRPr>
            </a:pPr>
            <a:r>
              <a:t>Client Deploy</a:t>
            </a:r>
            <a:br/>
            <a:r>
              <a:t>(with azd up)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3474720"/>
            <a:ext cx="2560320" cy="1828800"/>
          </a:xfrm>
          <a:prstGeom prst="roundRect">
            <a:avLst/>
          </a:prstGeom>
          <a:solidFill>
            <a:srgbClr val="2D2D4A"/>
          </a:solidFill>
          <a:ln w="19050">
            <a:solidFill>
              <a:srgbClr val="00B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3749040"/>
            <a:ext cx="21945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0B294"/>
                </a:solidFill>
              </a:defRPr>
            </a:pPr>
            <a:r>
              <a:t>50+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48056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CCCCCC"/>
                </a:solidFill>
              </a:defRPr>
            </a:pPr>
            <a:r>
              <a:t>Docs/Hour</a:t>
            </a:r>
            <a:br/>
            <a:r>
              <a:t>Throughput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One accelerator. Every engagement. Immediate ROI.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High-Level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2468880" cy="2377440"/>
          </a:xfrm>
          <a:prstGeom prst="roundRect">
            <a:avLst/>
          </a:prstGeom>
          <a:solidFill>
            <a:srgbClr val="2D2D4A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Ingestion</a:t>
            </a:r>
            <a:br/>
            <a:r>
              <a:t>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Upload, classify,</a:t>
            </a:r>
            <a:br/>
            <a:r>
              <a:t>store documents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88920"/>
            <a:ext cx="2103120" cy="5943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16352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Azure Blob</a:t>
            </a:r>
            <a:br/>
            <a:r>
              <a:t>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188720"/>
            <a:ext cx="2468880" cy="2377440"/>
          </a:xfrm>
          <a:prstGeom prst="roundRect">
            <a:avLst/>
          </a:prstGeom>
          <a:solidFill>
            <a:srgbClr val="2D2D4A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32588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Extraction</a:t>
            </a:r>
            <a:br/>
            <a:r>
              <a:t>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6596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OCR, layout,</a:t>
            </a:r>
            <a:br/>
            <a:r>
              <a:t>table extraction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788920"/>
            <a:ext cx="2103120" cy="5943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816352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Azure Doc</a:t>
            </a:r>
            <a:br/>
            <a:r>
              <a:t>Intelligence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2468880" cy="2377440"/>
          </a:xfrm>
          <a:prstGeom prst="roundRect">
            <a:avLst/>
          </a:prstGeom>
          <a:solidFill>
            <a:srgbClr val="2D2D4A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2588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Analysis</a:t>
            </a:r>
            <a:br/>
            <a: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6596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Summarize, risks,</a:t>
            </a:r>
            <a:br/>
            <a:r>
              <a:t>clauses, compliance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788920"/>
            <a:ext cx="2103120" cy="5943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816352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Azure OpenAI</a:t>
            </a:r>
            <a:br/>
            <a:r>
              <a:t>(GPT-4o)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188720"/>
            <a:ext cx="2468880" cy="2377440"/>
          </a:xfrm>
          <a:prstGeom prst="roundRect">
            <a:avLst/>
          </a:prstGeom>
          <a:solidFill>
            <a:srgbClr val="2D2D4A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32588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Search &amp;</a:t>
            </a:r>
            <a:br/>
            <a:r>
              <a:t>Retrieval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96596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Index, semantic</a:t>
            </a:r>
            <a:br/>
            <a:r>
              <a:t>search, vectors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2788920"/>
            <a:ext cx="2103120" cy="5943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816352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Azure AI</a:t>
            </a:r>
            <a:br/>
            <a:r>
              <a:t>Search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840480"/>
            <a:ext cx="10881360" cy="64008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31920"/>
            <a:ext cx="10881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Orchestrator Agent  —  Microsoft Agent Framework  (Sequential Workflow: Ingest → Extract → Analyze → Index)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127248" y="2103120"/>
            <a:ext cx="292608" cy="274320"/>
          </a:xfrm>
          <a:prstGeom prst="rightArrow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5916168" y="2103120"/>
            <a:ext cx="292608" cy="274320"/>
          </a:xfrm>
          <a:prstGeom prst="rightArrow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8705088" y="2103120"/>
            <a:ext cx="292608" cy="274320"/>
          </a:xfrm>
          <a:prstGeom prst="rightArrow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4709160"/>
            <a:ext cx="10881360" cy="50292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782312"/>
            <a:ext cx="10881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Azure AI Foundry  |  Azure Cosmos DB  |  Azure Key Vault  |  Azure Monitor + App Insights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Next Steps: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CCCCCC"/>
                </a:solidFill>
              </a:defRPr>
            </a:pPr>
            <a:r>
              <a:t>1. Approve accelerator investment (~7 weeks)    2. Provision Azure sandbox    3. Begin Phase 0 — Infrastructure &amp; IaC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